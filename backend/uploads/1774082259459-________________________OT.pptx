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7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0B054-F86B-B41F-2837-CF58081B92F4}" v="1491" dt="2024-03-06T13:19:33.567"/>
    <p1510:client id="{DC7C8846-835A-4F2F-A219-3E0679AD41A2}" v="130" dt="2024-03-07T01:58:37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slide" Target="slides/slide2.xml" Id="rId3" /><Relationship Type="http://schemas.openxmlformats.org/officeDocument/2006/relationships/theme" Target="theme/theme1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viewProps" Target="viewProps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microsoft.com/office/2015/10/relationships/revisionInfo" Target="revisionInfo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9.xml" Id="rId10" /><Relationship Type="http://schemas.openxmlformats.org/officeDocument/2006/relationships/presProps" Target="presProps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tableStyles" Target="tableStyles.xml" Id="rId22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0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84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3/6/2024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8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3/6/2024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3/6/2024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1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1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6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7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0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6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none" spc="100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96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800" b="1" kern="1200" spc="1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4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b="0" i="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4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https:/aisw.sehan.ac.kr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altLang="ko-KR" sz="3000">
                <a:latin typeface="Cooper Black"/>
                <a:ea typeface="Malgun Gothic"/>
              </a:rPr>
              <a:t>2024 </a:t>
            </a:r>
            <a:r>
              <a:rPr lang="ko-KR" sz="3000">
                <a:latin typeface="Cooper Black"/>
                <a:ea typeface="인천교육자람"/>
              </a:rPr>
              <a:t>세한대학교</a:t>
            </a:r>
            <a:endParaRPr lang="en-US" altLang="ko-KR" sz="3000" b="0">
              <a:latin typeface="Cooper Black"/>
              <a:ea typeface="인천교육자람"/>
            </a:endParaRPr>
          </a:p>
          <a:p>
            <a:pPr algn="ctr">
              <a:spcBef>
                <a:spcPts val="0"/>
              </a:spcBef>
            </a:pPr>
            <a:r>
              <a:rPr lang="ko-KR" sz="3000" err="1">
                <a:latin typeface="Cooper Black"/>
                <a:ea typeface="인천교육자람"/>
              </a:rPr>
              <a:t>인공지능빅데이터학과</a:t>
            </a:r>
            <a:r>
              <a:rPr lang="ko-KR" sz="3000">
                <a:latin typeface="Cooper Black"/>
                <a:ea typeface="인천교육자람"/>
              </a:rPr>
              <a:t> 신입생 </a:t>
            </a:r>
            <a:r>
              <a:rPr lang="en-US" altLang="ko-KR" sz="3000">
                <a:latin typeface="Cooper Black"/>
                <a:ea typeface="Malgun Gothic"/>
              </a:rPr>
              <a:t>OT</a:t>
            </a:r>
            <a:endParaRPr lang="ko-KR" sz="3000" b="0">
              <a:latin typeface="Cooper Black"/>
              <a:ea typeface="인천교육자람"/>
            </a:endParaRPr>
          </a:p>
          <a:p>
            <a:endParaRPr lang="ko-KR" altLang="en-US" sz="2600"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1" name="Picture 3" descr="전구 아이디어 개념">
            <a:extLst>
              <a:ext uri="{FF2B5EF4-FFF2-40B4-BE49-F238E27FC236}">
                <a16:creationId xmlns:a16="http://schemas.microsoft.com/office/drawing/2014/main" id="{B523B236-02AB-30B7-F611-1772C6DCD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4" r="51439" b="-2"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A268-FD0E-3E3D-5CA3-B18D093D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진행순서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E61560B-BAF9-D3BD-AF02-BD1D6E4A4254}"/>
              </a:ext>
            </a:extLst>
          </p:cNvPr>
          <p:cNvGrpSpPr/>
          <p:nvPr/>
        </p:nvGrpSpPr>
        <p:grpSpPr>
          <a:xfrm>
            <a:off x="1099162" y="2150590"/>
            <a:ext cx="9432952" cy="808174"/>
            <a:chOff x="1379521" y="1719269"/>
            <a:chExt cx="9432952" cy="80817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E5D8F4A-0927-49D9-A3BC-934221A5020C}"/>
                </a:ext>
              </a:extLst>
            </p:cNvPr>
            <p:cNvSpPr/>
            <p:nvPr/>
          </p:nvSpPr>
          <p:spPr>
            <a:xfrm>
              <a:off x="1379521" y="1719269"/>
              <a:ext cx="2007442" cy="7853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b="1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B7B191D-A82F-47EF-88F5-D6675362BD12}"/>
                </a:ext>
              </a:extLst>
            </p:cNvPr>
            <p:cNvSpPr/>
            <p:nvPr/>
          </p:nvSpPr>
          <p:spPr>
            <a:xfrm>
              <a:off x="3386963" y="1719269"/>
              <a:ext cx="7425510" cy="785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3000" b="1">
                  <a:solidFill>
                    <a:schemeClr val="bg2">
                      <a:lumMod val="50000"/>
                    </a:schemeClr>
                  </a:solidFill>
                  <a:latin typeface="인천교육자람" panose="02000503000000000000" pitchFamily="2" charset="-127"/>
                  <a:ea typeface="인천교육자람"/>
                </a:rPr>
                <a:t>학과 소개</a:t>
              </a:r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87F1EB6E-BE0A-450B-B67E-25E1017797D7}"/>
                </a:ext>
              </a:extLst>
            </p:cNvPr>
            <p:cNvSpPr txBox="1"/>
            <p:nvPr/>
          </p:nvSpPr>
          <p:spPr>
            <a:xfrm>
              <a:off x="2161867" y="1819557"/>
              <a:ext cx="3145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0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인천교육자람" panose="02000503000000000000" pitchFamily="2" charset="-127"/>
                  <a:ea typeface="인천교육자람" panose="02000503000000000000" pitchFamily="2" charset="-127"/>
                </a:rPr>
                <a:t>1</a:t>
              </a:r>
              <a:endParaRPr kumimoji="0" lang="ko-KR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인천교육자람" panose="02000503000000000000" pitchFamily="2" charset="-127"/>
                <a:ea typeface="인천교육자람" panose="02000503000000000000" pitchFamily="2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82F1FEF-48A0-0097-6724-7408412A0EB7}"/>
              </a:ext>
            </a:extLst>
          </p:cNvPr>
          <p:cNvGrpSpPr/>
          <p:nvPr/>
        </p:nvGrpSpPr>
        <p:grpSpPr>
          <a:xfrm>
            <a:off x="1099161" y="3243269"/>
            <a:ext cx="9432952" cy="808174"/>
            <a:chOff x="1379521" y="1719269"/>
            <a:chExt cx="9432952" cy="80817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9041DAF-10F7-A44E-9146-2C801EDAEE33}"/>
                </a:ext>
              </a:extLst>
            </p:cNvPr>
            <p:cNvSpPr/>
            <p:nvPr/>
          </p:nvSpPr>
          <p:spPr>
            <a:xfrm>
              <a:off x="1379521" y="1719269"/>
              <a:ext cx="2007442" cy="7853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b="1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BBD917C-C1CB-DA71-D578-7EE2FDA43267}"/>
                </a:ext>
              </a:extLst>
            </p:cNvPr>
            <p:cNvSpPr/>
            <p:nvPr/>
          </p:nvSpPr>
          <p:spPr>
            <a:xfrm>
              <a:off x="3386963" y="1719269"/>
              <a:ext cx="7425510" cy="785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3000" b="1">
                  <a:solidFill>
                    <a:schemeClr val="bg2">
                      <a:lumMod val="50000"/>
                    </a:schemeClr>
                  </a:solidFill>
                  <a:latin typeface="인천교육자람" panose="02000503000000000000" pitchFamily="2" charset="-127"/>
                  <a:ea typeface="인천교육자람"/>
                </a:rPr>
                <a:t>목표와 비전</a:t>
              </a: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232B0870-4318-F944-7A30-A238ACFCC1E3}"/>
                </a:ext>
              </a:extLst>
            </p:cNvPr>
            <p:cNvSpPr txBox="1"/>
            <p:nvPr/>
          </p:nvSpPr>
          <p:spPr>
            <a:xfrm>
              <a:off x="2161867" y="1819557"/>
              <a:ext cx="481222" cy="70788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000" b="1">
                  <a:solidFill>
                    <a:schemeClr val="bg1"/>
                  </a:solidFill>
                  <a:latin typeface="인천교육자람" panose="02000503000000000000" pitchFamily="2" charset="-127"/>
                  <a:ea typeface="인천교육자람" panose="02000503000000000000" pitchFamily="2" charset="-127"/>
                </a:rPr>
                <a:t>2</a:t>
              </a:r>
              <a:endParaRPr lang="en-US" altLang="ko-KR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인천교육자람" panose="02000503000000000000" pitchFamily="2" charset="-127"/>
                <a:ea typeface="인천교육자람" panose="02000503000000000000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FA7912C-CF35-830C-850B-5D931F109C0A}"/>
              </a:ext>
            </a:extLst>
          </p:cNvPr>
          <p:cNvGrpSpPr/>
          <p:nvPr/>
        </p:nvGrpSpPr>
        <p:grpSpPr>
          <a:xfrm>
            <a:off x="1099162" y="4335948"/>
            <a:ext cx="9432952" cy="808174"/>
            <a:chOff x="1379521" y="1719269"/>
            <a:chExt cx="9432952" cy="808174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EFD14D8-90F0-9113-56F5-BD9C0B2729C5}"/>
                </a:ext>
              </a:extLst>
            </p:cNvPr>
            <p:cNvSpPr/>
            <p:nvPr/>
          </p:nvSpPr>
          <p:spPr>
            <a:xfrm>
              <a:off x="1379521" y="1719269"/>
              <a:ext cx="2007442" cy="7853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b="1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99DF325-1630-A6FE-CD22-9C110FC07BCC}"/>
                </a:ext>
              </a:extLst>
            </p:cNvPr>
            <p:cNvSpPr/>
            <p:nvPr/>
          </p:nvSpPr>
          <p:spPr>
            <a:xfrm>
              <a:off x="3386963" y="1719269"/>
              <a:ext cx="7425510" cy="785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3000" b="1">
                  <a:solidFill>
                    <a:schemeClr val="bg2">
                      <a:lumMod val="50000"/>
                    </a:schemeClr>
                  </a:solidFill>
                  <a:latin typeface="인천교육자람"/>
                  <a:ea typeface="인천교육자람"/>
                </a:rPr>
                <a:t>교과 과정 및 이수학점</a:t>
              </a:r>
              <a:endParaRPr lang="ko-KR" altLang="en-US" sz="3000" b="1">
                <a:solidFill>
                  <a:schemeClr val="bg2">
                    <a:lumMod val="50000"/>
                  </a:schemeClr>
                </a:solidFill>
                <a:latin typeface="인천교육자람" panose="02000503000000000000" pitchFamily="2" charset="-127"/>
                <a:ea typeface="인천교육자람"/>
              </a:endParaRPr>
            </a:p>
          </p:txBody>
        </p:sp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id="{CA210360-DE2B-BC5F-9503-873010ACB941}"/>
                </a:ext>
              </a:extLst>
            </p:cNvPr>
            <p:cNvSpPr txBox="1"/>
            <p:nvPr/>
          </p:nvSpPr>
          <p:spPr>
            <a:xfrm>
              <a:off x="2161867" y="1819557"/>
              <a:ext cx="481222" cy="70788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000" b="1">
                  <a:solidFill>
                    <a:schemeClr val="bg1"/>
                  </a:solidFill>
                  <a:latin typeface="인천교육자람" panose="02000503000000000000" pitchFamily="2" charset="-127"/>
                  <a:ea typeface="인천교육자람" panose="02000503000000000000" pitchFamily="2" charset="-127"/>
                </a:rPr>
                <a:t>3</a:t>
              </a:r>
              <a:endParaRPr lang="en-US" altLang="ko-KR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인천교육자람" panose="02000503000000000000" pitchFamily="2" charset="-127"/>
                <a:ea typeface="인천교육자람" panose="02000503000000000000" pitchFamily="2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EFA42B-DF1A-5559-D004-76D86D9DA924}"/>
              </a:ext>
            </a:extLst>
          </p:cNvPr>
          <p:cNvGrpSpPr/>
          <p:nvPr/>
        </p:nvGrpSpPr>
        <p:grpSpPr>
          <a:xfrm>
            <a:off x="1099161" y="5363929"/>
            <a:ext cx="9432952" cy="808174"/>
            <a:chOff x="1379521" y="1719269"/>
            <a:chExt cx="9432952" cy="808174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D0D0127-8089-D27C-B45A-EE9B195AD378}"/>
                </a:ext>
              </a:extLst>
            </p:cNvPr>
            <p:cNvSpPr/>
            <p:nvPr/>
          </p:nvSpPr>
          <p:spPr>
            <a:xfrm>
              <a:off x="1379521" y="1719269"/>
              <a:ext cx="2007442" cy="7853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b="1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EF85040B-DA34-3030-C58B-0877968ADE19}"/>
                </a:ext>
              </a:extLst>
            </p:cNvPr>
            <p:cNvSpPr/>
            <p:nvPr/>
          </p:nvSpPr>
          <p:spPr>
            <a:xfrm>
              <a:off x="3386963" y="1719269"/>
              <a:ext cx="7425510" cy="785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3000" b="1">
                  <a:solidFill>
                    <a:schemeClr val="bg2">
                      <a:lumMod val="50000"/>
                    </a:schemeClr>
                  </a:solidFill>
                  <a:latin typeface="인천교육자람" panose="02000503000000000000" pitchFamily="2" charset="-127"/>
                  <a:ea typeface="인천교육자람"/>
                </a:rPr>
                <a:t>질의응답</a:t>
              </a:r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9B0376FF-E645-52FB-1705-D1CB8FD9A8EA}"/>
                </a:ext>
              </a:extLst>
            </p:cNvPr>
            <p:cNvSpPr txBox="1"/>
            <p:nvPr/>
          </p:nvSpPr>
          <p:spPr>
            <a:xfrm>
              <a:off x="2161867" y="1819557"/>
              <a:ext cx="481222" cy="70788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4000" b="1">
                  <a:solidFill>
                    <a:schemeClr val="bg1"/>
                  </a:solidFill>
                  <a:latin typeface="인천교육자람" panose="02000503000000000000" pitchFamily="2" charset="-127"/>
                  <a:ea typeface="인천교육자람"/>
                </a:rPr>
                <a:t>4</a:t>
              </a:r>
              <a:endParaRPr lang="en-US" altLang="ko-KR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인천교육자람" panose="02000503000000000000" pitchFamily="2" charset="-127"/>
                <a:ea typeface="인천교육자람" panose="02000503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029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lnSpc>
                <a:spcPct val="113999"/>
              </a:lnSpc>
              <a:buNone/>
            </a:pPr>
            <a:r>
              <a:rPr lang="ko-KR" altLang="en-US" sz="2500" b="1">
                <a:latin typeface="맑은 고딕"/>
                <a:ea typeface="맑은 고딕"/>
                <a:cs typeface="Malgun Gothic Semilight"/>
              </a:rPr>
              <a:t>설립배경과 특징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ko-KR" altLang="en-US" b="1">
                <a:latin typeface="Malgun Gothic"/>
                <a:ea typeface="Malgun Gothic"/>
                <a:cs typeface="Malgun Gothic Semilight"/>
              </a:rPr>
              <a:t>• </a:t>
            </a:r>
            <a:r>
              <a:rPr lang="ko-KR" altLang="en-US" b="1" err="1">
                <a:latin typeface="Malgun Gothic"/>
                <a:ea typeface="Malgun Gothic"/>
                <a:cs typeface="Malgun Gothic Semilight"/>
              </a:rPr>
              <a:t>인공지능빅데이터학과는</a:t>
            </a:r>
            <a:r>
              <a:rPr lang="ko-KR" b="1">
                <a:latin typeface="Malgun Gothic"/>
                <a:ea typeface="Malgun Gothic"/>
                <a:cs typeface="+mn-lt"/>
              </a:rPr>
              <a:t> 4차 산업혁명의 주요 핵심 기술을 선도하기 위해 </a:t>
            </a:r>
            <a:r>
              <a:rPr lang="en-US" altLang="ko-KR" b="1">
                <a:latin typeface="Malgun Gothic"/>
                <a:ea typeface="+mn-lt"/>
                <a:cs typeface="+mn-lt"/>
              </a:rPr>
              <a:t>21학년도에 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설립되었으며</a:t>
            </a:r>
            <a:r>
              <a:rPr lang="en-US" altLang="en-US" b="1">
                <a:latin typeface="Malgun Gothic"/>
                <a:ea typeface="Malgun Gothic"/>
                <a:cs typeface="+mn-lt"/>
              </a:rPr>
              <a:t>,</a:t>
            </a:r>
            <a:r>
              <a:rPr lang="ko-KR" b="1">
                <a:latin typeface="Malgun Gothic"/>
                <a:ea typeface="Malgun Gothic"/>
                <a:cs typeface="+mn-lt"/>
              </a:rPr>
              <a:t> 미래 지능정보사회를 선도할 수 있는 인재를 양성하는 데 목표를 두고 있습니다.</a:t>
            </a:r>
            <a:endParaRPr lang="ko-KR" altLang="en-US" b="1">
              <a:latin typeface="맑은 고딕"/>
              <a:ea typeface="맑은 고딕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ko-KR" b="1">
                <a:latin typeface="Malgun Gothic"/>
                <a:ea typeface="Malgun Gothic"/>
                <a:cs typeface="+mn-lt"/>
              </a:rPr>
              <a:t>• 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실용적인 교육 방식을 통해 학생들이 빠르게 변화하는 기술 환경에 적응하고 성공적으로 성장할 수 있도록 지원합니다</a:t>
            </a:r>
            <a:r>
              <a:rPr lang="en-US" altLang="ko-KR" b="1">
                <a:latin typeface="Malgun Gothic"/>
                <a:ea typeface="+mn-lt"/>
                <a:cs typeface="+mn-lt"/>
              </a:rPr>
              <a:t>.</a:t>
            </a:r>
            <a:endParaRPr lang="ko-KR" altLang="en-US" b="1">
              <a:latin typeface="Malgun Gothic"/>
              <a:ea typeface="맑은 고딕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58327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lnSpc>
                <a:spcPct val="113999"/>
              </a:lnSpc>
              <a:buNone/>
            </a:pPr>
            <a:r>
              <a:rPr lang="ko-KR" altLang="en-US" sz="2500" b="1">
                <a:latin typeface="맑은 고딕"/>
                <a:ea typeface="맑은 고딕"/>
                <a:cs typeface="Malgun Gothic Semilight"/>
              </a:rPr>
              <a:t>전문교수진</a:t>
            </a:r>
          </a:p>
          <a:p>
            <a:pPr>
              <a:lnSpc>
                <a:spcPct val="113999"/>
              </a:lnSpc>
              <a:buNone/>
            </a:pPr>
            <a:r>
              <a:rPr lang="ko-KR" b="1">
                <a:latin typeface="Malgun Gothic"/>
                <a:ea typeface="Malgun Gothic"/>
                <a:cs typeface="+mn-lt"/>
              </a:rPr>
              <a:t>• 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우리 학과는 업계에서 다양한 경험을 가진 전문 교수진으로 구성되어 있습니다</a:t>
            </a:r>
            <a:r>
              <a:rPr lang="en-US" altLang="ko-KR" b="1">
                <a:latin typeface="Malgun Gothic"/>
                <a:ea typeface="+mn-lt"/>
                <a:cs typeface="+mn-lt"/>
              </a:rPr>
              <a:t>.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 학생들은 업계 동향을 반영한 최신 지식과 경험을 습득할 수 있습니다</a:t>
            </a:r>
            <a:r>
              <a:rPr lang="en-US" altLang="ko-KR" b="1">
                <a:latin typeface="Malgun Gothic"/>
                <a:ea typeface="+mn-lt"/>
                <a:cs typeface="+mn-lt"/>
              </a:rPr>
              <a:t>.</a:t>
            </a:r>
            <a:endParaRPr lang="ko-KR" altLang="en-US" b="1">
              <a:latin typeface="Malgun Gothic"/>
              <a:ea typeface="Malgun Gothic"/>
              <a:cs typeface="+mn-lt"/>
            </a:endParaRPr>
          </a:p>
          <a:p>
            <a:pPr>
              <a:lnSpc>
                <a:spcPct val="113999"/>
              </a:lnSpc>
              <a:buNone/>
            </a:pPr>
            <a:endParaRPr lang="en-US" altLang="ko-KR" b="1">
              <a:latin typeface="Malgun Gothic"/>
              <a:ea typeface="Malgun Gothic Semilight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r>
              <a:rPr lang="en-US" altLang="ko-KR" b="1">
                <a:latin typeface="Malgun Gothic"/>
                <a:ea typeface="Malgun Gothic Semilight"/>
                <a:cs typeface="Malgun Gothic Semilight"/>
              </a:rPr>
              <a:t>• </a:t>
            </a:r>
            <a:r>
              <a:rPr lang="en-US" altLang="ko-KR" b="1">
                <a:latin typeface="Malgun Gothic"/>
                <a:ea typeface="+mn-lt"/>
                <a:cs typeface="+mn-lt"/>
              </a:rPr>
              <a:t> </a:t>
            </a:r>
            <a:r>
              <a:rPr lang="en-US" b="1">
                <a:latin typeface="Malgun Gothic"/>
                <a:ea typeface="+mn-lt"/>
                <a:cs typeface="+mn-lt"/>
              </a:rPr>
              <a:t>각 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교수님들은 </a:t>
            </a:r>
            <a:r>
              <a:rPr lang="en-US" b="1" err="1">
                <a:latin typeface="Malgun Gothic"/>
                <a:ea typeface="+mn-lt"/>
                <a:cs typeface="+mn-lt"/>
              </a:rPr>
              <a:t>자신의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전문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분야를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가지고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있으며</a:t>
            </a:r>
            <a:r>
              <a:rPr lang="en-US" b="1">
                <a:latin typeface="Malgun Gothic"/>
                <a:ea typeface="+mn-lt"/>
                <a:cs typeface="+mn-lt"/>
              </a:rPr>
              <a:t>, </a:t>
            </a:r>
            <a:r>
              <a:rPr lang="en-US" b="1" err="1">
                <a:latin typeface="Malgun Gothic"/>
                <a:ea typeface="+mn-lt"/>
                <a:cs typeface="+mn-lt"/>
              </a:rPr>
              <a:t>이를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통해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학생들은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다양한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영역에서의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전문성을</a:t>
            </a:r>
            <a:r>
              <a:rPr lang="en-US" b="1">
                <a:latin typeface="Malgun Gothic"/>
                <a:ea typeface="+mn-lt"/>
                <a:cs typeface="+mn-lt"/>
              </a:rPr>
              <a:t> </a:t>
            </a:r>
            <a:r>
              <a:rPr lang="en-US" b="1" err="1">
                <a:latin typeface="Malgun Gothic"/>
                <a:ea typeface="+mn-lt"/>
                <a:cs typeface="+mn-lt"/>
              </a:rPr>
              <a:t>키울</a:t>
            </a:r>
            <a:r>
              <a:rPr lang="en-US" b="1">
                <a:latin typeface="Malgun Gothic"/>
                <a:ea typeface="+mn-lt"/>
                <a:cs typeface="+mn-lt"/>
              </a:rPr>
              <a:t> 수 </a:t>
            </a:r>
            <a:r>
              <a:rPr lang="en-US" b="1" err="1">
                <a:latin typeface="Malgun Gothic"/>
                <a:ea typeface="+mn-lt"/>
                <a:cs typeface="+mn-lt"/>
              </a:rPr>
              <a:t>있습니다</a:t>
            </a:r>
            <a:r>
              <a:rPr lang="en-US" b="1">
                <a:latin typeface="Malgun Gothic"/>
                <a:ea typeface="+mn-lt"/>
                <a:cs typeface="+mn-lt"/>
              </a:rPr>
              <a:t>.</a:t>
            </a:r>
            <a:endParaRPr lang="en-US" altLang="ko-KR" b="1">
              <a:latin typeface="Malgun Gothic"/>
              <a:ea typeface="+mn-lt"/>
              <a:cs typeface="+mn-lt"/>
            </a:endParaRPr>
          </a:p>
          <a:p>
            <a:pPr>
              <a:lnSpc>
                <a:spcPct val="113999"/>
              </a:lnSpc>
              <a:buNone/>
            </a:pPr>
            <a:endParaRPr lang="en-US" altLang="ko-KR" b="1">
              <a:ea typeface="Malgun Gothic Semilight"/>
              <a:cs typeface="Malgun Gothic Semiligh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103771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3"/>
            <a:ext cx="10058400" cy="1450757"/>
          </a:xfrm>
        </p:spPr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60" y="2108201"/>
            <a:ext cx="6388260" cy="3760891"/>
          </a:xfrm>
        </p:spPr>
        <p:txBody>
          <a:bodyPr lIns="109728" tIns="109728" rIns="109728" bIns="91440">
            <a:normAutofit/>
          </a:bodyPr>
          <a:lstStyle/>
          <a:p>
            <a:pPr marL="0" indent="0">
              <a:buNone/>
            </a:pPr>
            <a:endParaRPr lang="ko-KR" altLang="en-US" b="1">
              <a:latin typeface="맑은 고딕"/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en-US" altLang="ko-KR" b="1">
              <a:latin typeface="Malgun Gothic Semilight"/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그림 4" descr="인간의 얼굴, 의류, 사람, 넥타이이(가) 표시된 사진&#10;&#10;자동 생성된 설명">
            <a:extLst>
              <a:ext uri="{FF2B5EF4-FFF2-40B4-BE49-F238E27FC236}">
                <a16:creationId xmlns:a16="http://schemas.microsoft.com/office/drawing/2014/main" id="{FFD9A7A5-047C-9EBF-6455-03F6AA16F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628" y="2580467"/>
            <a:ext cx="2296181" cy="2857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534D90-BD8C-9BC5-8906-22343CF546EF}"/>
              </a:ext>
            </a:extLst>
          </p:cNvPr>
          <p:cNvSpPr txBox="1"/>
          <p:nvPr/>
        </p:nvSpPr>
        <p:spPr>
          <a:xfrm>
            <a:off x="4987160" y="2977056"/>
            <a:ext cx="4937233" cy="2385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b="1">
              <a:solidFill>
                <a:srgbClr val="0A5DBB"/>
              </a:solidFill>
              <a:latin typeface="NanumSquare"/>
              <a:ea typeface="맑은 고딕"/>
            </a:endParaRPr>
          </a:p>
          <a:p>
            <a:r>
              <a:rPr lang="ko-KR" altLang="en-US" sz="2300" b="1" err="1">
                <a:solidFill>
                  <a:schemeClr val="tx1"/>
                </a:solidFill>
                <a:latin typeface="Malgun Gothic"/>
                <a:ea typeface="Malgun Gothic"/>
              </a:rPr>
              <a:t>김종명</a:t>
            </a:r>
            <a:r>
              <a:rPr lang="en-US" altLang="ko-KR" sz="2300" b="1">
                <a:solidFill>
                  <a:schemeClr val="tx1"/>
                </a:solidFill>
                <a:latin typeface="Malgun Gothic"/>
                <a:ea typeface="맑은 고딕"/>
              </a:rPr>
              <a:t> </a:t>
            </a:r>
            <a:r>
              <a:rPr lang="ko-KR" altLang="en-US" b="1">
                <a:solidFill>
                  <a:schemeClr val="tx1"/>
                </a:solidFill>
                <a:latin typeface="Malgun Gothic"/>
                <a:ea typeface="Malgun Gothic"/>
              </a:rPr>
              <a:t>교수</a:t>
            </a:r>
            <a:r>
              <a:rPr lang="en-US" altLang="ko-KR" b="1">
                <a:solidFill>
                  <a:schemeClr val="tx1"/>
                </a:solidFill>
                <a:latin typeface="Malgun Gothic"/>
                <a:ea typeface="맑은 고딕"/>
              </a:rPr>
              <a:t>, </a:t>
            </a:r>
            <a:r>
              <a:rPr lang="ko-KR" altLang="en-US" b="1">
                <a:solidFill>
                  <a:schemeClr val="tx1"/>
                </a:solidFill>
                <a:latin typeface="Malgun Gothic"/>
                <a:ea typeface="Malgun Gothic"/>
              </a:rPr>
              <a:t>학과장</a:t>
            </a:r>
            <a:endParaRPr lang="en-US" altLang="ko-KR" b="1">
              <a:solidFill>
                <a:schemeClr val="tx1"/>
              </a:solidFill>
              <a:latin typeface="Malgun Gothic"/>
              <a:ea typeface="Malgun Gothic"/>
            </a:endParaRPr>
          </a:p>
          <a:p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력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컴퓨터공학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박사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수료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연구실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세한대학교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본관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306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호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연락처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041-359-6177, tom@sehan.ac.kr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전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공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b="1" err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실감형콘텐츠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, </a:t>
            </a:r>
            <a:r>
              <a:rPr lang="ko-KR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메타버스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, </a:t>
            </a:r>
            <a:r>
              <a:rPr lang="ko-KR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빅데이</a:t>
            </a:r>
            <a:r>
              <a:rPr lang="ko-KR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터</a:t>
            </a:r>
          </a:p>
          <a:p>
            <a:endParaRPr lang="en-US" altLang="ko-KR">
              <a:latin typeface="Malgun Gothic"/>
              <a:ea typeface="맑은 고딕"/>
            </a:endParaRPr>
          </a:p>
          <a:p>
            <a:endParaRPr lang="en-US" altLang="ko-KR">
              <a:solidFill>
                <a:srgbClr val="212529"/>
              </a:solidFill>
              <a:latin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399168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3"/>
            <a:ext cx="10058400" cy="1450757"/>
          </a:xfrm>
        </p:spPr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60" y="2108201"/>
            <a:ext cx="6388260" cy="3760891"/>
          </a:xfrm>
        </p:spPr>
        <p:txBody>
          <a:bodyPr lIns="109728" tIns="109728" rIns="109728" bIns="91440">
            <a:normAutofit/>
          </a:bodyPr>
          <a:lstStyle/>
          <a:p>
            <a:pPr marL="0" indent="0">
              <a:buNone/>
            </a:pPr>
            <a:endParaRPr lang="ko-KR" altLang="en-US" b="1">
              <a:latin typeface="맑은 고딕"/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en-US" altLang="ko-KR" b="1">
              <a:latin typeface="Malgun Gothic Semilight"/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그림 6" descr="사람, 인간의 얼굴, 의류, 넥타이이(가) 표시된 사진&#10;&#10;자동 생성된 설명">
            <a:extLst>
              <a:ext uri="{FF2B5EF4-FFF2-40B4-BE49-F238E27FC236}">
                <a16:creationId xmlns:a16="http://schemas.microsoft.com/office/drawing/2014/main" id="{4B3C774E-008B-A536-DF24-AC6D42C0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356" y="2578484"/>
            <a:ext cx="2269906" cy="28308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C39B81-2028-B546-F3AF-1A4941C0CA4B}"/>
              </a:ext>
            </a:extLst>
          </p:cNvPr>
          <p:cNvSpPr txBox="1"/>
          <p:nvPr/>
        </p:nvSpPr>
        <p:spPr>
          <a:xfrm>
            <a:off x="4987160" y="2977056"/>
            <a:ext cx="4937233" cy="2385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b="1">
              <a:solidFill>
                <a:srgbClr val="0A5DBB"/>
              </a:solidFill>
              <a:latin typeface="NanumSquare"/>
              <a:ea typeface="맑은 고딕"/>
            </a:endParaRPr>
          </a:p>
          <a:p>
            <a:r>
              <a:rPr lang="en-US" altLang="ko-KR" sz="2300" b="1" err="1">
                <a:solidFill>
                  <a:schemeClr val="tx1"/>
                </a:solidFill>
                <a:latin typeface="Malgun Gothic"/>
                <a:ea typeface="맑은 고딕"/>
              </a:rPr>
              <a:t>이동수</a:t>
            </a:r>
            <a:r>
              <a:rPr lang="en-US" altLang="ko-KR" sz="2300" b="1">
                <a:solidFill>
                  <a:schemeClr val="tx1"/>
                </a:solidFill>
                <a:latin typeface="Malgun Gothic"/>
                <a:ea typeface="맑은 고딕"/>
              </a:rPr>
              <a:t> </a:t>
            </a:r>
            <a:r>
              <a:rPr lang="ko-KR" altLang="en-US" b="1">
                <a:solidFill>
                  <a:schemeClr val="tx1"/>
                </a:solidFill>
                <a:latin typeface="Malgun Gothic"/>
                <a:ea typeface="Malgun Gothic"/>
              </a:rPr>
              <a:t>교수</a:t>
            </a:r>
          </a:p>
          <a:p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력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행정학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박사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,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통계학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박사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수료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연구실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세한대학교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본관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308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호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연락처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041-359-6105, dslee@sehan.ac.kr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전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공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빅데이터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,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인공지능</a:t>
            </a:r>
            <a:endParaRPr lang="en-US" altLang="ko-KR" b="1">
              <a:solidFill>
                <a:srgbClr val="212529"/>
              </a:solidFill>
              <a:latin typeface="Malgun Gothic"/>
              <a:ea typeface="Malgun Gothic"/>
              <a:cs typeface="+mn-lt"/>
            </a:endParaRPr>
          </a:p>
          <a:p>
            <a:endParaRPr lang="en-US" altLang="ko-KR">
              <a:latin typeface="NanumSquare"/>
            </a:endParaRPr>
          </a:p>
          <a:p>
            <a:endParaRPr lang="en-US" altLang="ko-KR">
              <a:solidFill>
                <a:srgbClr val="212529"/>
              </a:solidFill>
              <a:latin typeface="NanumSquare"/>
            </a:endParaRPr>
          </a:p>
        </p:txBody>
      </p:sp>
    </p:spTree>
    <p:extLst>
      <p:ext uri="{BB962C8B-B14F-4D97-AF65-F5344CB8AC3E}">
        <p14:creationId xmlns:p14="http://schemas.microsoft.com/office/powerpoint/2010/main" val="48468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3"/>
            <a:ext cx="10058400" cy="1450757"/>
          </a:xfrm>
        </p:spPr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60" y="2108201"/>
            <a:ext cx="6388260" cy="3760891"/>
          </a:xfrm>
        </p:spPr>
        <p:txBody>
          <a:bodyPr lIns="109728" tIns="109728" rIns="109728" bIns="91440">
            <a:normAutofit/>
          </a:bodyPr>
          <a:lstStyle/>
          <a:p>
            <a:pPr marL="0" indent="0">
              <a:buNone/>
            </a:pPr>
            <a:endParaRPr lang="ko-KR" altLang="en-US" b="1">
              <a:latin typeface="맑은 고딕"/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en-US" altLang="ko-KR" b="1">
              <a:latin typeface="Malgun Gothic Semilight"/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39B81-2028-B546-F3AF-1A4941C0CA4B}"/>
              </a:ext>
            </a:extLst>
          </p:cNvPr>
          <p:cNvSpPr txBox="1"/>
          <p:nvPr/>
        </p:nvSpPr>
        <p:spPr>
          <a:xfrm>
            <a:off x="4987160" y="2977056"/>
            <a:ext cx="5278819" cy="2385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b="1">
              <a:solidFill>
                <a:srgbClr val="0A5DBB"/>
              </a:solidFill>
              <a:latin typeface="NanumSquare"/>
              <a:ea typeface="맑은 고딕"/>
            </a:endParaRPr>
          </a:p>
          <a:p>
            <a:r>
              <a:rPr lang="en-US" altLang="ko-KR" sz="2300" b="1" err="1">
                <a:solidFill>
                  <a:schemeClr val="tx1"/>
                </a:solidFill>
                <a:latin typeface="Malgun Gothic"/>
                <a:ea typeface="맑은 고딕"/>
              </a:rPr>
              <a:t>이효택</a:t>
            </a:r>
            <a:r>
              <a:rPr lang="en-US" altLang="ko-KR" sz="2300" b="1">
                <a:solidFill>
                  <a:schemeClr val="tx1"/>
                </a:solidFill>
                <a:latin typeface="Malgun Gothic"/>
                <a:ea typeface="맑은 고딕"/>
              </a:rPr>
              <a:t> </a:t>
            </a:r>
            <a:r>
              <a:rPr lang="ko-KR" altLang="en-US" b="1">
                <a:solidFill>
                  <a:schemeClr val="tx1"/>
                </a:solidFill>
                <a:latin typeface="Malgun Gothic"/>
                <a:ea typeface="Malgun Gothic"/>
              </a:rPr>
              <a:t>교수</a:t>
            </a:r>
          </a:p>
          <a:p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력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</a:t>
            </a:r>
            <a:r>
              <a:rPr lang="en-US" altLang="ko-KR" b="1" err="1">
                <a:solidFill>
                  <a:srgbClr val="212529"/>
                </a:solidFill>
                <a:latin typeface="맑은 고딕"/>
                <a:ea typeface="맑은 고딕"/>
                <a:cs typeface="+mn-lt"/>
              </a:rPr>
              <a:t>생체역학</a:t>
            </a:r>
            <a:r>
              <a:rPr lang="en-US" altLang="ko-KR" b="1">
                <a:solidFill>
                  <a:srgbClr val="212529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altLang="ko-KR" b="1" err="1">
                <a:solidFill>
                  <a:srgbClr val="212529"/>
                </a:solidFill>
                <a:latin typeface="맑은 고딕"/>
                <a:ea typeface="맑은 고딕"/>
                <a:cs typeface="+mn-lt"/>
              </a:rPr>
              <a:t>이학박사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연구실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세한대학교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본관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426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호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연락처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041-359-6107, take1682@sehan.ac.kr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전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공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</a:rPr>
              <a:t>디지털헬스케어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,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</a:rPr>
              <a:t>생체역학분석</a:t>
            </a:r>
            <a:endParaRPr lang="ko-KR" altLang="en-US" b="1">
              <a:solidFill>
                <a:srgbClr val="212529"/>
              </a:solidFill>
              <a:latin typeface="Malgun Gothic"/>
              <a:ea typeface="Malgun Gothic"/>
              <a:cs typeface="+mn-lt"/>
            </a:endParaRPr>
          </a:p>
          <a:p>
            <a:endParaRPr lang="en-US" altLang="ko-KR">
              <a:latin typeface="NanumSquare"/>
            </a:endParaRPr>
          </a:p>
          <a:p>
            <a:endParaRPr lang="en-US" altLang="ko-KR">
              <a:solidFill>
                <a:srgbClr val="212529"/>
              </a:solidFill>
              <a:latin typeface="NanumSquare"/>
            </a:endParaRPr>
          </a:p>
        </p:txBody>
      </p:sp>
      <p:pic>
        <p:nvPicPr>
          <p:cNvPr id="4" name="그림 3" descr="인간의 얼굴, 사람, 턱, 목이(가) 표시된 사진&#10;&#10;자동 생성된 설명">
            <a:extLst>
              <a:ext uri="{FF2B5EF4-FFF2-40B4-BE49-F238E27FC236}">
                <a16:creationId xmlns:a16="http://schemas.microsoft.com/office/drawing/2014/main" id="{9611E856-ECD3-A8A7-9BC7-EB36DE9E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71" y="2578484"/>
            <a:ext cx="2230491" cy="283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4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3"/>
            <a:ext cx="10058400" cy="1450757"/>
          </a:xfrm>
        </p:spPr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60" y="2108201"/>
            <a:ext cx="6388260" cy="3760891"/>
          </a:xfrm>
        </p:spPr>
        <p:txBody>
          <a:bodyPr lIns="109728" tIns="109728" rIns="109728" bIns="91440">
            <a:normAutofit/>
          </a:bodyPr>
          <a:lstStyle/>
          <a:p>
            <a:pPr marL="0" indent="0">
              <a:buNone/>
            </a:pPr>
            <a:endParaRPr lang="ko-KR" altLang="en-US" b="1">
              <a:latin typeface="맑은 고딕"/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en-US" altLang="ko-KR" b="1">
              <a:latin typeface="Malgun Gothic Semilight"/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39B81-2028-B546-F3AF-1A4941C0CA4B}"/>
              </a:ext>
            </a:extLst>
          </p:cNvPr>
          <p:cNvSpPr txBox="1"/>
          <p:nvPr/>
        </p:nvSpPr>
        <p:spPr>
          <a:xfrm>
            <a:off x="4987160" y="2977056"/>
            <a:ext cx="5278819" cy="2385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b="1">
              <a:solidFill>
                <a:srgbClr val="0A5DBB"/>
              </a:solidFill>
              <a:latin typeface="NanumSquare"/>
              <a:ea typeface="맑은 고딕"/>
            </a:endParaRPr>
          </a:p>
          <a:p>
            <a:r>
              <a:rPr lang="en-US" altLang="ko-KR" sz="2300" b="1" err="1">
                <a:solidFill>
                  <a:schemeClr val="tx1"/>
                </a:solidFill>
                <a:latin typeface="Malgun Gothic"/>
                <a:ea typeface="맑은 고딕"/>
              </a:rPr>
              <a:t>김영진</a:t>
            </a:r>
            <a:r>
              <a:rPr lang="en-US" altLang="ko-KR" sz="2300" b="1">
                <a:solidFill>
                  <a:schemeClr val="tx1"/>
                </a:solidFill>
                <a:latin typeface="Malgun Gothic"/>
                <a:ea typeface="맑은 고딕"/>
              </a:rPr>
              <a:t> </a:t>
            </a:r>
            <a:r>
              <a:rPr lang="ko-KR" altLang="en-US" b="1">
                <a:solidFill>
                  <a:schemeClr val="tx1"/>
                </a:solidFill>
                <a:latin typeface="Malgun Gothic"/>
                <a:ea typeface="Malgun Gothic"/>
              </a:rPr>
              <a:t>교수</a:t>
            </a:r>
          </a:p>
          <a:p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력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  <a:cs typeface="+mn-lt"/>
              </a:rPr>
              <a:t>컴퓨터공학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  <a:cs typeface="+mn-lt"/>
              </a:rPr>
              <a:t>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  <a:cs typeface="+mn-lt"/>
              </a:rPr>
              <a:t>박사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연구실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세한대학교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본관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Malgun Gothic Semilight"/>
                <a:cs typeface="+mn-lt"/>
              </a:rPr>
              <a:t>301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호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연락처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041-359-6095, you359@sehan.ac.kr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전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공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</a:rPr>
              <a:t>인공지능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,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</a:rPr>
              <a:t>디지털트윈</a:t>
            </a:r>
            <a:endParaRPr lang="en-US" altLang="ko-KR" b="1" err="1">
              <a:solidFill>
                <a:srgbClr val="212529"/>
              </a:solidFill>
              <a:latin typeface="Malgun Gothic"/>
              <a:ea typeface="맑은 고딕"/>
              <a:cs typeface="+mn-lt"/>
            </a:endParaRPr>
          </a:p>
          <a:p>
            <a:endParaRPr lang="en-US" altLang="ko-KR">
              <a:latin typeface="NanumSquare"/>
            </a:endParaRPr>
          </a:p>
          <a:p>
            <a:endParaRPr lang="en-US" altLang="ko-KR">
              <a:solidFill>
                <a:srgbClr val="212529"/>
              </a:solidFill>
              <a:latin typeface="NanumSquare"/>
            </a:endParaRPr>
          </a:p>
        </p:txBody>
      </p:sp>
      <p:pic>
        <p:nvPicPr>
          <p:cNvPr id="6" name="그림 5" descr="의류, 인간의 얼굴, 사람, 슈트이(가) 표시된 사진&#10;&#10;자동 생성된 설명">
            <a:extLst>
              <a:ext uri="{FF2B5EF4-FFF2-40B4-BE49-F238E27FC236}">
                <a16:creationId xmlns:a16="http://schemas.microsoft.com/office/drawing/2014/main" id="{3AB95469-CA9D-97B9-3F20-31E3B22FD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15" y="2578485"/>
            <a:ext cx="2296181" cy="283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4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3"/>
            <a:ext cx="10058400" cy="1450757"/>
          </a:xfrm>
        </p:spPr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60" y="2108201"/>
            <a:ext cx="6388260" cy="3760891"/>
          </a:xfrm>
        </p:spPr>
        <p:txBody>
          <a:bodyPr lIns="109728" tIns="109728" rIns="109728" bIns="91440">
            <a:normAutofit/>
          </a:bodyPr>
          <a:lstStyle/>
          <a:p>
            <a:pPr marL="0" indent="0">
              <a:buNone/>
            </a:pPr>
            <a:endParaRPr lang="ko-KR" altLang="en-US" b="1">
              <a:latin typeface="맑은 고딕"/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en-US" altLang="ko-KR" b="1">
              <a:latin typeface="Malgun Gothic Semilight"/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39B81-2028-B546-F3AF-1A4941C0CA4B}"/>
              </a:ext>
            </a:extLst>
          </p:cNvPr>
          <p:cNvSpPr txBox="1"/>
          <p:nvPr/>
        </p:nvSpPr>
        <p:spPr>
          <a:xfrm>
            <a:off x="3358385" y="2891331"/>
            <a:ext cx="527881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b="1">
              <a:solidFill>
                <a:srgbClr val="0A5DBB"/>
              </a:solidFill>
              <a:latin typeface="NanumSquare"/>
              <a:ea typeface="맑은 고딕"/>
            </a:endParaRPr>
          </a:p>
          <a:p>
            <a:r>
              <a:rPr lang="ko-KR" altLang="en-US" b="1">
                <a:solidFill>
                  <a:schemeClr val="tx1"/>
                </a:solidFill>
                <a:latin typeface="Malgun Gothic"/>
                <a:ea typeface="Malgun Gothic"/>
              </a:rPr>
              <a:t>박광희 교수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연락처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01052635071</a:t>
            </a:r>
            <a:endParaRPr lang="en-US" altLang="ko-KR" b="1">
              <a:latin typeface="+mn-ea"/>
            </a:endParaRPr>
          </a:p>
          <a:p>
            <a:endParaRPr lang="en-US" altLang="ko-KR">
              <a:solidFill>
                <a:srgbClr val="000000"/>
              </a:solidFill>
              <a:latin typeface="NanumSquare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2083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286603"/>
            <a:ext cx="10058400" cy="1450757"/>
          </a:xfrm>
        </p:spPr>
        <p:txBody>
          <a:bodyPr>
            <a:normAutofit/>
          </a:bodyPr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6573" y="1895846"/>
            <a:ext cx="978408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460" y="2108201"/>
            <a:ext cx="6388260" cy="3760891"/>
          </a:xfrm>
        </p:spPr>
        <p:txBody>
          <a:bodyPr lIns="109728" tIns="109728" rIns="109728" bIns="91440">
            <a:normAutofit/>
          </a:bodyPr>
          <a:lstStyle/>
          <a:p>
            <a:pPr marL="0" indent="0">
              <a:buNone/>
            </a:pPr>
            <a:endParaRPr lang="ko-KR" altLang="en-US" b="1">
              <a:latin typeface="맑은 고딕"/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en-US" altLang="ko-KR" b="1">
              <a:latin typeface="Malgun Gothic Semilight"/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>
              <a:ea typeface="Malgun Gothic Semilight"/>
              <a:cs typeface="Malgun Gothic Semilight"/>
            </a:endParaRPr>
          </a:p>
          <a:p>
            <a:pPr marL="0" indent="0">
              <a:buNone/>
            </a:pPr>
            <a:endParaRPr lang="ko-KR" altLang="en-US">
              <a:ea typeface="Malgun Gothic Semilight"/>
              <a:cs typeface="Malgun Gothic Semi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EDFE5-9478-4774-9D3D-FEC7DC70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39B81-2028-B546-F3AF-1A4941C0CA4B}"/>
              </a:ext>
            </a:extLst>
          </p:cNvPr>
          <p:cNvSpPr txBox="1"/>
          <p:nvPr/>
        </p:nvSpPr>
        <p:spPr>
          <a:xfrm>
            <a:off x="3089349" y="2797339"/>
            <a:ext cx="5278819" cy="1554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ko-KR" altLang="en-US" b="1">
              <a:solidFill>
                <a:srgbClr val="0A5DBB"/>
              </a:solidFill>
              <a:latin typeface="NanumSquare"/>
              <a:ea typeface="맑은 고딕"/>
            </a:endParaRPr>
          </a:p>
          <a:p>
            <a:r>
              <a:rPr lang="en-US" altLang="ko-KR" sz="2300" b="1">
                <a:solidFill>
                  <a:schemeClr val="tx1"/>
                </a:solidFill>
                <a:latin typeface="Malgun Gothic"/>
                <a:ea typeface="맑은 고딕"/>
              </a:rPr>
              <a:t>이지민</a:t>
            </a:r>
            <a:r>
              <a:rPr lang="en-US" altLang="ko-KR" b="1">
                <a:solidFill>
                  <a:schemeClr val="tx1"/>
                </a:solidFill>
                <a:latin typeface="Malgun Gothic"/>
                <a:ea typeface="맑은 고딕"/>
              </a:rPr>
              <a:t> 조교</a:t>
            </a:r>
          </a:p>
          <a:p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력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  <a:cs typeface="+mn-lt"/>
              </a:rPr>
              <a:t>컴퓨터공학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  <a:cs typeface="+mn-lt"/>
              </a:rPr>
              <a:t> </a:t>
            </a:r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  <a:cs typeface="+mn-lt"/>
              </a:rPr>
              <a:t>석사</a:t>
            </a:r>
            <a:br>
              <a:rPr lang="en-US" altLang="ko-KR" b="1">
                <a:latin typeface="Malgun Gothic"/>
              </a:rPr>
            </a:b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</a:rPr>
              <a:t>연구실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세한대학교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"/>
                <a:cs typeface="+mn-lt"/>
              </a:rPr>
              <a:t>본관</a:t>
            </a:r>
            <a:r>
              <a:rPr lang="en-US" b="1">
                <a:solidFill>
                  <a:srgbClr val="212529"/>
                </a:solidFill>
                <a:latin typeface="Malgun Gothic"/>
                <a:ea typeface="+mn-lt"/>
                <a:cs typeface="+mn-lt"/>
              </a:rPr>
              <a:t> </a:t>
            </a:r>
            <a:r>
              <a:rPr lang="en-US" b="1">
                <a:solidFill>
                  <a:srgbClr val="212529"/>
                </a:solidFill>
                <a:latin typeface="Malgun Gothic"/>
                <a:ea typeface="Malgun Gothic Semilight"/>
                <a:cs typeface="+mn-lt"/>
              </a:rPr>
              <a:t>1</a:t>
            </a:r>
            <a:r>
              <a:rPr lang="ko-KR" altLang="en-US" b="1">
                <a:solidFill>
                  <a:srgbClr val="212529"/>
                </a:solidFill>
                <a:latin typeface="Malgun Gothic"/>
                <a:ea typeface="Malgun Gothic Semilight"/>
                <a:cs typeface="+mn-lt"/>
              </a:rPr>
              <a:t>층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Malgun Gothic Semilight"/>
                <a:cs typeface="+mn-lt"/>
              </a:rPr>
              <a:t> 교무처</a:t>
            </a:r>
            <a:endParaRPr lang="ko-KR" altLang="en-US" b="1">
              <a:solidFill>
                <a:srgbClr val="212529"/>
              </a:solidFill>
              <a:latin typeface="Malgun Gothic"/>
              <a:ea typeface="Malgun Gothic Semilight"/>
              <a:cs typeface="+mn-lt"/>
            </a:endParaRPr>
          </a:p>
          <a:p>
            <a:r>
              <a:rPr lang="en-US" altLang="ko-KR" b="1" err="1">
                <a:solidFill>
                  <a:srgbClr val="212529"/>
                </a:solidFill>
                <a:latin typeface="Malgun Gothic"/>
                <a:ea typeface="맑은 고딕"/>
              </a:rPr>
              <a:t>연락처</a:t>
            </a:r>
            <a:r>
              <a:rPr lang="en-US" altLang="ko-KR" b="1">
                <a:solidFill>
                  <a:srgbClr val="212529"/>
                </a:solidFill>
                <a:latin typeface="Malgun Gothic"/>
                <a:ea typeface="맑은 고딕"/>
              </a:rPr>
              <a:t> : 041-359-6018</a:t>
            </a:r>
          </a:p>
        </p:txBody>
      </p:sp>
    </p:spTree>
    <p:extLst>
      <p:ext uri="{BB962C8B-B14F-4D97-AF65-F5344CB8AC3E}">
        <p14:creationId xmlns:p14="http://schemas.microsoft.com/office/powerpoint/2010/main" val="37812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914400" indent="-914400">
              <a:buAutoNum type="arabicPeriod"/>
            </a:pPr>
            <a:r>
              <a:rPr lang="ko-KR" altLang="en-US">
                <a:ea typeface="맑은 고딕"/>
              </a:rPr>
              <a:t>학과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>
              <a:lnSpc>
                <a:spcPct val="113999"/>
              </a:lnSpc>
              <a:buNone/>
            </a:pPr>
            <a:r>
              <a:rPr lang="ko-KR" altLang="en-US" sz="2500" b="1">
                <a:latin typeface="맑은 고딕"/>
                <a:ea typeface="맑은 고딕"/>
                <a:cs typeface="Malgun Gothic Semilight"/>
              </a:rPr>
              <a:t>학과 홈페이지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ko-KR" altLang="en-US" b="1">
                <a:latin typeface="Malgun Gothic"/>
                <a:ea typeface="Malgun Gothic"/>
                <a:cs typeface="Malgun Gothic Semilight"/>
              </a:rPr>
              <a:t>• </a:t>
            </a:r>
            <a:r>
              <a:rPr lang="ko-KR" b="1">
                <a:latin typeface="Malgun Gothic"/>
                <a:ea typeface="Malgun Gothic"/>
                <a:cs typeface="+mn-lt"/>
              </a:rPr>
              <a:t>학과 홈페이지는 학생들에게 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다양한 정보를 제공하고</a:t>
            </a:r>
            <a:r>
              <a:rPr lang="en-US" altLang="ko-KR" b="1">
                <a:latin typeface="Malgun Gothic"/>
                <a:ea typeface="+mn-lt"/>
                <a:cs typeface="+mn-lt"/>
              </a:rPr>
              <a:t>,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 학생들은 학사 일정 및 학과 소식을 신속하게 확인할 수 있습니다</a:t>
            </a:r>
            <a:r>
              <a:rPr lang="ko-KR" b="1">
                <a:latin typeface="Malgun Gothic"/>
                <a:ea typeface="Malgun Gothic"/>
                <a:cs typeface="+mn-lt"/>
              </a:rPr>
              <a:t>. 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또한</a:t>
            </a:r>
            <a:r>
              <a:rPr lang="en-US" altLang="ko-KR" b="1">
                <a:latin typeface="Malgun Gothic"/>
                <a:ea typeface="+mn-lt"/>
                <a:cs typeface="+mn-lt"/>
              </a:rPr>
              <a:t>,</a:t>
            </a:r>
            <a:r>
              <a:rPr lang="ko-KR" altLang="en-US" b="1">
                <a:latin typeface="Malgun Gothic"/>
                <a:ea typeface="Malgun Gothic"/>
                <a:cs typeface="+mn-lt"/>
              </a:rPr>
              <a:t> 학생들은 학사 관리를 위한 다양한 서비스를 이용할 </a:t>
            </a:r>
            <a:r>
              <a:rPr lang="ko-KR" b="1">
                <a:latin typeface="Malgun Gothic"/>
                <a:ea typeface="Malgun Gothic"/>
                <a:cs typeface="+mn-lt"/>
              </a:rPr>
              <a:t>수 있습니다.</a:t>
            </a:r>
            <a:endParaRPr lang="ko-KR" altLang="en-US" b="1">
              <a:latin typeface="Malgun Gothic"/>
              <a:ea typeface="Malgun Gothic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altLang="ko-KR" b="1">
                <a:latin typeface="Malgun Gothic"/>
                <a:ea typeface="Malgun Gothic"/>
                <a:cs typeface="+mn-lt"/>
              </a:rPr>
              <a:t>•</a:t>
            </a:r>
            <a:r>
              <a:rPr lang="ko-KR" b="1">
                <a:latin typeface="Malgun Gothic"/>
                <a:ea typeface="Malgun Gothic"/>
                <a:cs typeface="+mn-lt"/>
              </a:rPr>
              <a:t> </a:t>
            </a:r>
            <a:r>
              <a:rPr lang="en-US" altLang="ko-KR" sz="3000">
                <a:latin typeface="Malgun Gothic"/>
                <a:ea typeface="Malgun Gothic"/>
                <a:cs typeface="+mn-lt"/>
                <a:hlinkClick r:id="rId2"/>
              </a:rPr>
              <a:t>학과홈페이지</a:t>
            </a:r>
            <a:endParaRPr lang="en-US" altLang="ko-KR" sz="3000">
              <a:ea typeface="Malgun Gothic"/>
              <a:cs typeface="Malgun Gothic Semiligh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>
              <a:latin typeface="Malgun Gothic Semilight" panose="020F0502020204030204"/>
              <a:ea typeface="Malgun Gothic Semilight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 altLang="en-US">
              <a:latin typeface="Malgun Gothic Semilight" panose="020F0502020204030204"/>
              <a:ea typeface="Malgun Gothic Semiligh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913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2. 목표와 비전</a:t>
            </a:r>
            <a:endParaRPr 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49925"/>
          </a:xfrm>
        </p:spPr>
        <p:txBody>
          <a:bodyPr lIns="109728" tIns="109728" rIns="109728" bIns="91440" anchor="t"/>
          <a:lstStyle/>
          <a:p>
            <a:pPr marL="0" indent="0">
              <a:lnSpc>
                <a:spcPct val="113999"/>
              </a:lnSpc>
              <a:buNone/>
            </a:pPr>
            <a:r>
              <a:rPr lang="ko-KR" altLang="en-US" sz="2100" b="1">
                <a:solidFill>
                  <a:schemeClr val="tx1"/>
                </a:solidFill>
                <a:latin typeface="Malgun Gothic"/>
                <a:ea typeface="Malgun Gothic"/>
                <a:cs typeface="Malgun Gothic Semilight"/>
              </a:rPr>
              <a:t>기술 역량 강화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ko-KR" altLang="en-US" sz="1800" b="1">
                <a:latin typeface="Malgun Gothic"/>
                <a:ea typeface="Malgun Gothic"/>
                <a:cs typeface="Malgun Gothic Semilight"/>
              </a:rPr>
              <a:t>• </a:t>
            </a:r>
            <a:r>
              <a:rPr lang="ko-KR" sz="1800" b="1">
                <a:latin typeface="Malgun Gothic"/>
                <a:ea typeface="Malgun Gothic"/>
                <a:cs typeface="+mn-lt"/>
              </a:rPr>
              <a:t>학생들의 기술 역량을 강화하기 위해 다양한 교육 및 프로그램을 제공합니다. 이를 통해 학생들은 실무에 즉시 활용 가능한 기술을 </a:t>
            </a:r>
            <a:r>
              <a:rPr lang="ko-KR" altLang="en-US" sz="1800" b="1">
                <a:latin typeface="Malgun Gothic"/>
                <a:ea typeface="Malgun Gothic"/>
                <a:cs typeface="+mn-lt"/>
              </a:rPr>
              <a:t>습득하는 것입니다</a:t>
            </a:r>
            <a:r>
              <a:rPr lang="ko-KR" sz="1800" b="1">
                <a:latin typeface="Malgun Gothic"/>
                <a:ea typeface="Malgun Gothic"/>
                <a:cs typeface="+mn-lt"/>
              </a:rPr>
              <a:t>.</a:t>
            </a:r>
            <a:endParaRPr lang="ko-KR" sz="18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r>
              <a:rPr lang="ko-KR" sz="2100" b="1">
                <a:solidFill>
                  <a:schemeClr val="tx1"/>
                </a:solidFill>
                <a:latin typeface="Malgun Gothic"/>
                <a:ea typeface="Malgun Gothic"/>
                <a:cs typeface="+mn-lt"/>
              </a:rPr>
              <a:t>문제</a:t>
            </a:r>
            <a:r>
              <a:rPr lang="ko-KR" altLang="en-US" sz="2100" b="1">
                <a:solidFill>
                  <a:schemeClr val="tx1"/>
                </a:solidFill>
                <a:latin typeface="Malgun Gothic"/>
                <a:ea typeface="Malgun Gothic"/>
                <a:cs typeface="+mn-lt"/>
              </a:rPr>
              <a:t> 해결 능력</a:t>
            </a:r>
            <a:endParaRPr lang="en-US" altLang="ko-KR" sz="2100" b="1">
              <a:solidFill>
                <a:schemeClr val="tx1"/>
              </a:solidFill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r>
              <a:rPr lang="en-US" altLang="ko-KR" sz="1800" b="1">
                <a:latin typeface="Malgun Gothic"/>
                <a:ea typeface="Malgun Gothic"/>
                <a:cs typeface="Malgun Gothic Semilight"/>
              </a:rPr>
              <a:t>•</a:t>
            </a:r>
            <a:r>
              <a:rPr lang="ko-KR" altLang="en-US" sz="1800" b="1">
                <a:latin typeface="Malgun Gothic"/>
                <a:ea typeface="Malgun Gothic"/>
                <a:cs typeface="Malgun Gothic Semilight"/>
              </a:rPr>
              <a:t> </a:t>
            </a:r>
            <a:r>
              <a:rPr lang="ko-KR" sz="1800" b="1">
                <a:latin typeface="Malgun Gothic"/>
                <a:ea typeface="Malgun Gothic"/>
                <a:cs typeface="+mn-lt"/>
              </a:rPr>
              <a:t>학생들이 실제 문제를 해결할 수 있는 능력을 키우기 위한 다양한 프로젝트를 지원합니다. 이를 통해 학생들은 현장에서의 문제 해결에 대비하는 것입니다</a:t>
            </a:r>
            <a:r>
              <a:rPr lang="en-US" altLang="ko-KR" sz="1800" b="1">
                <a:latin typeface="Malgun Gothic"/>
                <a:ea typeface="+mn-lt"/>
                <a:cs typeface="+mn-lt"/>
              </a:rPr>
              <a:t>.</a:t>
            </a:r>
            <a:endParaRPr lang="ko-KR" altLang="en-US" sz="18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r>
              <a:rPr lang="ko-KR" altLang="en-US" sz="2100" b="1">
                <a:solidFill>
                  <a:schemeClr val="tx1"/>
                </a:solidFill>
                <a:latin typeface="Malgun Gothic"/>
                <a:ea typeface="Malgun Gothic"/>
                <a:cs typeface="Malgun Gothic Semilight"/>
              </a:rPr>
              <a:t>창의성 및 혁신</a:t>
            </a:r>
            <a:endParaRPr lang="en-US" sz="2100" b="1">
              <a:solidFill>
                <a:schemeClr val="tx1"/>
              </a:solidFill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r>
              <a:rPr lang="en-US" sz="1800" b="1">
                <a:latin typeface="Malgun Gothic"/>
                <a:ea typeface="Malgun Gothic"/>
                <a:cs typeface="Malgun Gothic Semilight"/>
              </a:rPr>
              <a:t>•</a:t>
            </a:r>
            <a:r>
              <a:rPr lang="ko-KR" altLang="en-US" sz="1800" b="1">
                <a:latin typeface="Malgun Gothic"/>
                <a:ea typeface="Malgun Gothic"/>
                <a:cs typeface="Malgun Gothic Semilight"/>
              </a:rPr>
              <a:t> </a:t>
            </a:r>
            <a:r>
              <a:rPr lang="ko-KR" sz="1800" b="1">
                <a:latin typeface="Malgun Gothic"/>
                <a:ea typeface="Malgun Gothic"/>
                <a:cs typeface="+mn-lt"/>
              </a:rPr>
              <a:t>학생들의 창의성과 혁신을 존중하고, 이를 키울 수 있는 환경을 조성합니다</a:t>
            </a:r>
            <a:r>
              <a:rPr lang="en-US" altLang="ko-KR" sz="1800" b="1">
                <a:latin typeface="Malgun Gothic"/>
                <a:ea typeface="+mn-lt"/>
                <a:cs typeface="+mn-lt"/>
              </a:rPr>
              <a:t>.</a:t>
            </a:r>
            <a:r>
              <a:rPr lang="ko-KR" sz="1800" b="1">
                <a:latin typeface="Malgun Gothic"/>
                <a:ea typeface="Malgun Gothic"/>
                <a:cs typeface="+mn-lt"/>
              </a:rPr>
              <a:t> 학생들은 새로운 아이디어를 제안하고 구현하는 경험을 쌓는 것입니다</a:t>
            </a:r>
            <a:endParaRPr lang="ko-KR" sz="1800" b="1">
              <a:solidFill>
                <a:srgbClr val="404040"/>
              </a:solidFill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endParaRPr lang="ko-KR" altLang="en-US" sz="1800" b="1">
              <a:solidFill>
                <a:srgbClr val="404040"/>
              </a:solidFill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endParaRPr lang="en-US" altLang="ko-KR">
              <a:latin typeface="Malgun Gothic Semilight"/>
              <a:ea typeface="Malgun Gothic Semilight"/>
              <a:cs typeface="Malgun Gothic Semilight"/>
            </a:endParaRPr>
          </a:p>
          <a:p>
            <a:pPr>
              <a:lnSpc>
                <a:spcPct val="113999"/>
              </a:lnSpc>
              <a:buNone/>
            </a:pPr>
            <a:endParaRPr lang="ko-KR" altLang="en-US" b="1">
              <a:latin typeface="Malgun Gothic"/>
              <a:ea typeface="Malgun Gothic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>
              <a:latin typeface="Malgun Gothic Semilight" panose="020F0502020204030204"/>
              <a:ea typeface="Malgun Gothic Semilight"/>
              <a:cs typeface="+mn-lt"/>
            </a:endParaRPr>
          </a:p>
          <a:p>
            <a:pPr marL="0" indent="0">
              <a:lnSpc>
                <a:spcPct val="113999"/>
              </a:lnSpc>
              <a:buNone/>
            </a:pPr>
            <a:endParaRPr lang="ko-KR" altLang="en-US">
              <a:latin typeface="Malgun Gothic Semilight" panose="020F0502020204030204"/>
              <a:ea typeface="Malgun Gothic Semiligh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7733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867E2F-42A4-158E-4D27-ACD09872A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ko-KR" altLang="en-US" sz="4000">
                <a:ea typeface="맑은 고딕"/>
              </a:rPr>
              <a:t>3. 교과과정</a:t>
            </a:r>
            <a:endParaRPr lang="ko-KR" sz="4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91923-C78E-030E-AF8B-1637CA93D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64" y="2639380"/>
            <a:ext cx="3205049" cy="3229714"/>
          </a:xfrm>
        </p:spPr>
        <p:txBody>
          <a:bodyPr lIns="109728" tIns="109728" rIns="109728" bIns="91440" anchor="t">
            <a:normAutofit/>
          </a:bodyPr>
          <a:lstStyle/>
          <a:p>
            <a:pPr marL="0" indent="0" algn="ctr">
              <a:buNone/>
            </a:pPr>
            <a:r>
              <a:rPr lang="ko-KR" altLang="en-US" sz="2300" b="1">
                <a:latin typeface="Malgun Gothic"/>
                <a:ea typeface="Malgun Gothic"/>
                <a:cs typeface="Malgun Gothic Semilight"/>
              </a:rPr>
              <a:t>학과 교과과정</a:t>
            </a:r>
            <a:endParaRPr lang="ko-KR" sz="2300">
              <a:ea typeface="맑은 고딕"/>
              <a:cs typeface="Malgun Gothic Semilight"/>
            </a:endParaRPr>
          </a:p>
          <a:p>
            <a:pPr marL="0" indent="0">
              <a:buNone/>
            </a:pPr>
            <a:endParaRPr lang="ko-KR" altLang="en-US" b="1">
              <a:latin typeface="Malgun Gothic"/>
              <a:ea typeface="Malgun Gothic"/>
              <a:cs typeface="Malgun Gothic Semilight"/>
            </a:endParaRPr>
          </a:p>
          <a:p>
            <a:pPr>
              <a:buNone/>
            </a:pPr>
            <a:endParaRPr lang="en-US" altLang="ko-KR">
              <a:latin typeface="Malgun Gothic Semilight"/>
              <a:ea typeface="Malgun Gothic Semilight"/>
              <a:cs typeface="Malgun Gothic Semilight"/>
            </a:endParaRPr>
          </a:p>
          <a:p>
            <a:pPr>
              <a:buNone/>
            </a:pPr>
            <a:endParaRPr lang="ko-KR" altLang="en-US" b="1">
              <a:latin typeface="Malgun Gothic"/>
              <a:ea typeface="Malgun Gothic"/>
              <a:cs typeface="+mn-lt"/>
            </a:endParaRPr>
          </a:p>
          <a:p>
            <a:pPr marL="0" indent="0">
              <a:buNone/>
            </a:pPr>
            <a:endParaRPr lang="ko-KR">
              <a:latin typeface="Malgun Gothic Semilight" panose="020F0502020204030204"/>
              <a:ea typeface="Malgun Gothic Semilight"/>
              <a:cs typeface="+mn-lt"/>
            </a:endParaRPr>
          </a:p>
          <a:p>
            <a:pPr marL="0" indent="0">
              <a:buNone/>
            </a:pPr>
            <a:endParaRPr lang="ko-KR" altLang="en-US">
              <a:latin typeface="Malgun Gothic Semilight" panose="020F0502020204030204"/>
              <a:ea typeface="Malgun Gothic Semilight"/>
              <a:cs typeface="+mn-lt"/>
            </a:endParaRPr>
          </a:p>
        </p:txBody>
      </p:sp>
      <p:pic>
        <p:nvPicPr>
          <p:cNvPr id="4" name="그림 3" descr="텍스트, 번호, 평행, 영수증이(가) 표시된 사진&#10;&#10;자동 생성된 설명">
            <a:extLst>
              <a:ext uri="{FF2B5EF4-FFF2-40B4-BE49-F238E27FC236}">
                <a16:creationId xmlns:a16="http://schemas.microsoft.com/office/drawing/2014/main" id="{0449F44B-9857-D115-1106-1C219DEB7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513" y="643466"/>
            <a:ext cx="5186428" cy="522562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8800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03EB5-1A30-3E53-EE61-556A9624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3. 이수학점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7BDB1-2088-6D9F-B3A5-D52A563DD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55028"/>
          </a:xfrm>
        </p:spPr>
        <p:txBody>
          <a:bodyPr lIns="109728" tIns="109728" rIns="109728" bIns="91440" anchor="t"/>
          <a:lstStyle/>
          <a:p>
            <a:r>
              <a:rPr lang="ko-KR" sz="1500" b="1" err="1">
                <a:latin typeface="Malgun Gothic"/>
                <a:ea typeface="Malgun Gothic"/>
                <a:cs typeface="+mn-lt"/>
              </a:rPr>
              <a:t>졸업이수학점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: 120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학점</a:t>
            </a:r>
            <a:endParaRPr lang="ko-KR" altLang="en-US" sz="1500" b="1">
              <a:latin typeface="Malgun Gothic"/>
              <a:ea typeface="Malgun Gothic"/>
              <a:cs typeface="Malgun Gothic Semilight" panose="020F0502020204030204"/>
            </a:endParaRPr>
          </a:p>
          <a:p>
            <a:pPr>
              <a:lnSpc>
                <a:spcPct val="113999"/>
              </a:lnSpc>
            </a:pPr>
            <a:r>
              <a:rPr lang="ko-KR" sz="1500" b="1" err="1">
                <a:latin typeface="Malgun Gothic"/>
                <a:ea typeface="Malgun Gothic"/>
                <a:cs typeface="+mn-lt"/>
              </a:rPr>
              <a:t>주전공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(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소속학과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)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이수학점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: 36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학점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(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최소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)</a:t>
            </a:r>
            <a:endParaRPr lang="ko-KR" sz="15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</a:pPr>
            <a:r>
              <a:rPr lang="ko-KR" sz="1500" b="1">
                <a:latin typeface="Malgun Gothic"/>
                <a:ea typeface="Malgun Gothic"/>
                <a:cs typeface="+mn-lt"/>
              </a:rPr>
              <a:t>부전공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: 21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학점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 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복수전공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: 36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학점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(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둘 중 하나 </a:t>
            </a:r>
            <a:r>
              <a:rPr lang="ko-KR" sz="1500" b="1" err="1">
                <a:latin typeface="Malgun Gothic"/>
                <a:ea typeface="Malgun Gothic"/>
                <a:cs typeface="+mn-lt"/>
              </a:rPr>
              <a:t>택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1)</a:t>
            </a:r>
            <a:endParaRPr lang="ko-KR" sz="15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</a:pPr>
            <a:r>
              <a:rPr lang="ko-KR" sz="1500" b="1">
                <a:solidFill>
                  <a:srgbClr val="006200"/>
                </a:solidFill>
                <a:latin typeface="Malgun Gothic"/>
                <a:ea typeface="Malgun Gothic"/>
                <a:cs typeface="+mn-lt"/>
              </a:rPr>
              <a:t>교양 최소 이수 학점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 </a:t>
            </a:r>
            <a:r>
              <a:rPr lang="en-US" altLang="ko-KR" sz="1500" b="1">
                <a:solidFill>
                  <a:srgbClr val="006200"/>
                </a:solidFill>
                <a:latin typeface="Malgun Gothic"/>
                <a:ea typeface="+mn-lt"/>
                <a:cs typeface="+mn-lt"/>
              </a:rPr>
              <a:t>: 40</a:t>
            </a:r>
            <a:r>
              <a:rPr lang="ko-KR" sz="1500" b="1">
                <a:solidFill>
                  <a:srgbClr val="006200"/>
                </a:solidFill>
                <a:latin typeface="Malgun Gothic"/>
                <a:ea typeface="Malgun Gothic"/>
                <a:cs typeface="+mn-lt"/>
              </a:rPr>
              <a:t>학점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(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필수이수 학점 포함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)</a:t>
            </a:r>
            <a:endParaRPr lang="ko-KR" sz="15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</a:pPr>
            <a:r>
              <a:rPr lang="en-US" altLang="ko-KR" sz="1500" b="1">
                <a:latin typeface="Malgun Gothic"/>
                <a:ea typeface="+mn-lt"/>
                <a:cs typeface="+mn-lt"/>
              </a:rPr>
              <a:t>: </a:t>
            </a:r>
            <a:r>
              <a:rPr lang="ko-KR" sz="1500" b="1">
                <a:solidFill>
                  <a:srgbClr val="FF0000"/>
                </a:solidFill>
                <a:latin typeface="Malgun Gothic"/>
                <a:ea typeface="Malgun Gothic"/>
                <a:cs typeface="+mn-lt"/>
              </a:rPr>
              <a:t>기초교양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☞ </a:t>
            </a:r>
            <a:r>
              <a:rPr lang="ko-KR" sz="1500" b="1" err="1">
                <a:latin typeface="Malgun Gothic"/>
                <a:ea typeface="Malgun Gothic"/>
                <a:cs typeface="+mn-lt"/>
              </a:rPr>
              <a:t>창의력사고와코딩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대학영어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응급처치이론과실제</a:t>
            </a:r>
            <a:endParaRPr lang="ko-KR" sz="15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</a:pPr>
            <a:r>
              <a:rPr lang="ko-KR" sz="1500" b="1">
                <a:solidFill>
                  <a:srgbClr val="FF0000"/>
                </a:solidFill>
                <a:latin typeface="Malgun Gothic"/>
                <a:ea typeface="Malgun Gothic"/>
                <a:cs typeface="+mn-lt"/>
              </a:rPr>
              <a:t>핵심교양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☞ 종합적사고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글로벌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자기관리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디지털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의사소통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/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사회가치 </a:t>
            </a:r>
            <a:br>
              <a:rPr lang="ko-KR" sz="1500" b="1">
                <a:latin typeface="Malgun Gothic"/>
                <a:ea typeface="Malgun Gothic"/>
                <a:cs typeface="+mn-lt"/>
              </a:rPr>
            </a:br>
            <a:r>
              <a:rPr lang="ko-KR" sz="1500" b="1">
                <a:latin typeface="Malgun Gothic"/>
                <a:ea typeface="Malgun Gothic"/>
                <a:cs typeface="+mn-lt"/>
              </a:rPr>
              <a:t>위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6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개 영역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1</a:t>
            </a:r>
            <a:r>
              <a:rPr lang="ko-KR" sz="1500" b="1" err="1">
                <a:latin typeface="Malgun Gothic"/>
                <a:ea typeface="Malgun Gothic"/>
                <a:cs typeface="+mn-lt"/>
              </a:rPr>
              <a:t>과목씩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 필수 이수</a:t>
            </a:r>
            <a:endParaRPr lang="ko-KR" sz="1500" b="1">
              <a:latin typeface="Malgun Gothic"/>
              <a:ea typeface="Malgun Gothic"/>
              <a:cs typeface="Malgun Gothic Semilight"/>
            </a:endParaRPr>
          </a:p>
          <a:p>
            <a:pPr>
              <a:lnSpc>
                <a:spcPct val="113999"/>
              </a:lnSpc>
            </a:pPr>
            <a:endParaRPr lang="ko-KR" altLang="en-US" sz="1500" b="1">
              <a:latin typeface="Malgun Gothic"/>
              <a:ea typeface="Malgun Gothic"/>
              <a:cs typeface="+mn-lt"/>
            </a:endParaRPr>
          </a:p>
          <a:p>
            <a:pPr>
              <a:lnSpc>
                <a:spcPct val="113999"/>
              </a:lnSpc>
            </a:pPr>
            <a:r>
              <a:rPr lang="ko-KR" sz="1500" b="1">
                <a:latin typeface="Malgun Gothic"/>
                <a:ea typeface="Malgun Gothic"/>
                <a:cs typeface="+mn-lt"/>
              </a:rPr>
              <a:t>봉사활동 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60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시간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+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이론</a:t>
            </a:r>
            <a:r>
              <a:rPr lang="en-US" altLang="ko-KR" sz="1500" b="1">
                <a:latin typeface="Malgun Gothic"/>
                <a:ea typeface="+mn-lt"/>
                <a:cs typeface="+mn-lt"/>
              </a:rPr>
              <a:t>2</a:t>
            </a:r>
            <a:r>
              <a:rPr lang="ko-KR" sz="1500" b="1">
                <a:latin typeface="Malgun Gothic"/>
                <a:ea typeface="Malgun Gothic"/>
                <a:cs typeface="+mn-lt"/>
              </a:rPr>
              <a:t>시간</a:t>
            </a:r>
            <a:endParaRPr lang="ko-KR" sz="1500" b="1">
              <a:latin typeface="Malgun Gothic"/>
              <a:ea typeface="Malgun Gothic"/>
            </a:endParaRPr>
          </a:p>
          <a:p>
            <a:pPr>
              <a:lnSpc>
                <a:spcPct val="113999"/>
              </a:lnSpc>
            </a:pPr>
            <a:endParaRPr lang="ko-KR" altLang="en-US">
              <a:ea typeface="맑은 고딕"/>
              <a:cs typeface="Malgun Gothic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257455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2333B6-49EB-4669-5C82-0B9FF51EB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911" y="643468"/>
            <a:ext cx="3177847" cy="1674180"/>
          </a:xfrm>
        </p:spPr>
        <p:txBody>
          <a:bodyPr>
            <a:normAutofit/>
          </a:bodyPr>
          <a:lstStyle/>
          <a:p>
            <a:r>
              <a:rPr lang="ko-KR" altLang="en-US" sz="4000">
                <a:ea typeface="맑은 고딕"/>
              </a:rPr>
              <a:t>3. 이수학점</a:t>
            </a:r>
            <a:endParaRPr lang="ko-KR" altLang="en-US" sz="40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B57AA8-F021-480C-A9E2-F8991331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62164" y="2478513"/>
            <a:ext cx="292608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6D58AE6-1277-4040-BD4C-025E53841301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4592" r="4592" b="5441"/>
          <a:stretch/>
        </p:blipFill>
        <p:spPr>
          <a:xfrm>
            <a:off x="5788544" y="643466"/>
            <a:ext cx="4622366" cy="522562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F36B24-6632-4516-9692-73146289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9935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B601567C-4815-45C4-A8C8-DEF236232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48A5B8-EB30-C184-EE85-39A605E1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07352"/>
            <a:ext cx="10058400" cy="3591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80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4. </a:t>
            </a:r>
            <a:r>
              <a:rPr lang="ko-KR" altLang="en-US" sz="8000" spc="-50">
                <a:solidFill>
                  <a:schemeClr val="tx1">
                    <a:lumMod val="85000"/>
                    <a:lumOff val="15000"/>
                  </a:schemeClr>
                </a:solidFill>
              </a:rPr>
              <a:t>질의응답</a:t>
            </a:r>
            <a:endParaRPr lang="en-US" altLang="ko-KR" sz="8000" spc="-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9D2BBCA2-F039-47DF-B36F-39D7E7CC0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1458" y="2265037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5">
            <a:extLst>
              <a:ext uri="{FF2B5EF4-FFF2-40B4-BE49-F238E27FC236}">
                <a16:creationId xmlns:a16="http://schemas.microsoft.com/office/drawing/2014/main" id="{B624C8D3-B9AD-4F4F-8554-4EAF3724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055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8CC65A-7BBD-9AAA-480E-EF876F199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pPr marL="0" indent="0" algn="ctr">
              <a:buNone/>
            </a:pPr>
            <a:endParaRPr lang="ko-KR" altLang="en-US" sz="5000" b="1">
              <a:ea typeface="맑은 고딕"/>
              <a:cs typeface="Malgun Gothic Semilight" panose="020F0502020204030204"/>
            </a:endParaRPr>
          </a:p>
          <a:p>
            <a:pPr marL="0" indent="0" algn="ctr">
              <a:lnSpc>
                <a:spcPct val="113999"/>
              </a:lnSpc>
              <a:buNone/>
            </a:pPr>
            <a:r>
              <a:rPr lang="ko-KR" altLang="en-US" sz="4000" b="1">
                <a:latin typeface="Malgun Gothic"/>
                <a:ea typeface="Malgun Gothic"/>
                <a:cs typeface="Malgun Gothic Semilight" panose="020F0502020204030204"/>
              </a:rPr>
              <a:t>신입생 여러분들의 입학을 환영합니다!</a:t>
            </a:r>
          </a:p>
        </p:txBody>
      </p:sp>
    </p:spTree>
    <p:extLst>
      <p:ext uri="{BB962C8B-B14F-4D97-AF65-F5344CB8AC3E}">
        <p14:creationId xmlns:p14="http://schemas.microsoft.com/office/powerpoint/2010/main" val="36055178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_2SEEDS">
      <a:dk1>
        <a:srgbClr val="000000"/>
      </a:dk1>
      <a:lt1>
        <a:srgbClr val="FFFFFF"/>
      </a:lt1>
      <a:dk2>
        <a:srgbClr val="242941"/>
      </a:dk2>
      <a:lt2>
        <a:srgbClr val="E8E7E2"/>
      </a:lt2>
      <a:accent1>
        <a:srgbClr val="7F87BA"/>
      </a:accent1>
      <a:accent2>
        <a:srgbClr val="89A7BF"/>
      </a:accent2>
      <a:accent3>
        <a:srgbClr val="A396C6"/>
      </a:accent3>
      <a:accent4>
        <a:srgbClr val="BA947F"/>
      </a:accent4>
      <a:accent5>
        <a:srgbClr val="ADA383"/>
      </a:accent5>
      <a:accent6>
        <a:srgbClr val="9FA973"/>
      </a:accent6>
      <a:hlink>
        <a:srgbClr val="8B8354"/>
      </a:hlink>
      <a:folHlink>
        <a:srgbClr val="7F7F7F"/>
      </a:folHlink>
    </a:clrScheme>
    <a:fontScheme name="Retrospect">
      <a:majorFont>
        <a:latin typeface="Malgun Gothic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 Semi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RetrospectVTI</vt:lpstr>
      <vt:lpstr>2024 세한대학교 인공지능빅데이터학과 신입생 OT </vt:lpstr>
      <vt:lpstr>진행순서</vt:lpstr>
      <vt:lpstr>학과 소개</vt:lpstr>
      <vt:lpstr>학과 소개</vt:lpstr>
      <vt:lpstr>학과 소개</vt:lpstr>
      <vt:lpstr>학과 소개</vt:lpstr>
      <vt:lpstr>학과 소개</vt:lpstr>
      <vt:lpstr>학과 소개</vt:lpstr>
      <vt:lpstr>학과 소개</vt:lpstr>
      <vt:lpstr>학과 소개</vt:lpstr>
      <vt:lpstr>학과 소개</vt:lpstr>
      <vt:lpstr>2. 목표와 비전</vt:lpstr>
      <vt:lpstr>3. 교과과정</vt:lpstr>
      <vt:lpstr>3. 이수학점</vt:lpstr>
      <vt:lpstr>3. 이수학점</vt:lpstr>
      <vt:lpstr>4. 질의응답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revision>1</cp:revision>
  <dcterms:created xsi:type="dcterms:W3CDTF">2024-03-06T11:45:19Z</dcterms:created>
  <dcterms:modified xsi:type="dcterms:W3CDTF">2024-03-07T01:58:47Z</dcterms:modified>
</cp:coreProperties>
</file>